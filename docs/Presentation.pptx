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Noto Serif Thin"/>
      <p:regular r:id="rId201314"/>
    </p:embeddedFont>
    <p:embeddedFont>
      <p:font typeface="Noto Serif ExtraLight"/>
      <p:regular r:id="rId201315"/>
    </p:embeddedFont>
    <p:embeddedFont>
      <p:font typeface="Noto Serif ExtraBold"/>
      <p:regular r:id="rId201316"/>
    </p:embeddedFont>
    <p:embeddedFont>
      <p:font typeface="Noto Serif Black"/>
      <p:regular r:id="rId201317"/>
    </p:embeddedFont>
    <p:embeddedFont>
      <p:font typeface="Noto Serif Light"/>
      <p:regular r:id="rId201318"/>
    </p:embeddedFont>
    <p:embeddedFont>
      <p:font typeface="Noto Serif"/>
      <p:regular r:id="rId201319"/>
    </p:embeddedFont>
    <p:embeddedFont>
      <p:font typeface="Noto Serif Medium"/>
      <p:regular r:id="rId201320"/>
    </p:embeddedFont>
    <p:embeddedFont>
      <p:font typeface="Noto Serif SemiBold"/>
      <p:regular r:id="rId201321"/>
    </p:embeddedFont>
    <p:embeddedFont>
      <p:font typeface="Noto Serif Bold"/>
      <p:regular r:id="rId2013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1.png"/><Relationship Id="rId8" Type="http://schemas.openxmlformats.org/officeDocument/2006/relationships/image" Target="../media/image-2-2.svg"/><Relationship Id="rId9" Type="http://schemas.openxmlformats.org/officeDocument/2006/relationships/image" Target="../media/image-2-1.png"/><Relationship Id="rId10" Type="http://schemas.openxmlformats.org/officeDocument/2006/relationships/image" Target="../media/image-2-2.svg"/><Relationship Id="rId11" Type="http://schemas.openxmlformats.org/officeDocument/2006/relationships/image" Target="../media/image-2-1.png"/><Relationship Id="rId12" Type="http://schemas.openxmlformats.org/officeDocument/2006/relationships/image" Target="../media/image-2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image" Target="../media/image-7-1.png"/><Relationship Id="rId8" Type="http://schemas.openxmlformats.org/officeDocument/2006/relationships/image" Target="../media/image-7-2.svg"/><Relationship Id="rId9" Type="http://schemas.openxmlformats.org/officeDocument/2006/relationships/image" Target="../media/image-7-1.png"/><Relationship Id="rId10" Type="http://schemas.openxmlformats.org/officeDocument/2006/relationships/image" Target="../media/image-7-2.svg"/><Relationship Id="rId11" Type="http://schemas.openxmlformats.org/officeDocument/2006/relationships/image" Target="../media/image-7-1.png"/><Relationship Id="rId12" Type="http://schemas.openxmlformats.org/officeDocument/2006/relationships/image" Target="../media/image-7-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3.png"/><Relationship Id="rId16" Type="http://schemas.openxmlformats.org/officeDocument/2006/relationships/image" Target="../media/image-7-14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1428"/>
            <a:ext cx="10868745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Industrial teams lose time because evidence is fragmented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908572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Maintenance, engineering, safety, quality, and operations teams often work from separate document systems.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61475" y="2351088"/>
            <a:ext cx="1086874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Common sources are disconnected: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61475" y="2806898"/>
            <a:ext cx="10868745" cy="137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Equipment manuals and quick guides.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Work orders and maintenance logs.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P&amp;IDs, inspection forms, and scanned records.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Historian exports and sensor anomaly tables.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Safety SOPs, regulatory extracts, and compliance checklists.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61475" y="4391223"/>
            <a:ext cx="1086874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impact is practical: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61475" y="4847034"/>
            <a:ext cx="10868745" cy="137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Slower decisions during failures.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Incomplete asset history.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Missed contradictions across records.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Harder compliance preparation.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Loss of experienced operator knowledge.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8091"/>
            <a:ext cx="10868745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prototype creates a local operating intelligence workspace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875234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Industrial Ops Brain starts from user uploaded evidence and keeps every generated answer tied to source documents.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61475" y="2317750"/>
            <a:ext cx="1086874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What the prototype does:</a:t>
            </a:r>
            <a:endParaRPr lang="en-US" sz="1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773561"/>
            <a:ext cx="5366112" cy="8614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7354" y="2953246"/>
            <a:ext cx="4930552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Ingests PDF, DOCX, TXT, CSV, and XLSX files.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4108" y="2773561"/>
            <a:ext cx="5366112" cy="86141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19987" y="2953246"/>
            <a:ext cx="4930552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Parses text, tables, office documents, and PDFs with optional OCR fallback.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771503"/>
            <a:ext cx="5366112" cy="86141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7354" y="3951188"/>
            <a:ext cx="4930552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Chunks and embeds evidence locally.</a:t>
            </a:r>
            <a:endParaRPr lang="en-US" sz="15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64108" y="3771503"/>
            <a:ext cx="5366112" cy="86141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19987" y="3951188"/>
            <a:ext cx="4930552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Extracts assets, entities, events, gaps, contradictions, and graph links.</a:t>
            </a:r>
            <a:endParaRPr lang="en-US" sz="15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769445"/>
            <a:ext cx="5366112" cy="86141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17354" y="4949130"/>
            <a:ext cx="4930552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Retrieves relevant evidence before generating chat, RCA, and compliance outputs.</a:t>
            </a:r>
            <a:endParaRPr lang="en-US" sz="15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64108" y="4769445"/>
            <a:ext cx="5366112" cy="861417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419987" y="4949130"/>
            <a:ext cx="4930552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Shows filename, page, snippet, confidence, and validation status wherever provenance matters.</a:t>
            </a:r>
            <a:endParaRPr lang="en-US" sz="1550" dirty="0"/>
          </a:p>
        </p:txBody>
      </p:sp>
      <p:sp>
        <p:nvSpPr>
          <p:cNvPr id="17" name="Text 9"/>
          <p:cNvSpPr/>
          <p:nvPr/>
        </p:nvSpPr>
        <p:spPr>
          <a:xfrm>
            <a:off x="661475" y="5784453"/>
            <a:ext cx="1086874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This addresses the brief by making heterogeneous industrial knowledge queryable, connected, actionable, and updated when new files are uploaded and analysed.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1103"/>
            <a:ext cx="10868745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evidence pipeline is designed for traceability first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2034580"/>
            <a:ext cx="1147833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system treats provenance as a product requirement, not a final decoration.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32097" y="2506563"/>
            <a:ext cx="5474059" cy="3780334"/>
          </a:xfrm>
          <a:prstGeom prst="roundRect">
            <a:avLst>
              <a:gd name="adj" fmla="val 3420"/>
            </a:avLst>
          </a:prstGeom>
          <a:solidFill>
            <a:srgbClr val="9C9283"/>
          </a:solidFill>
          <a:ln/>
        </p:spPr>
      </p:sp>
      <p:sp>
        <p:nvSpPr>
          <p:cNvPr id="5" name="Text 3"/>
          <p:cNvSpPr/>
          <p:nvPr/>
        </p:nvSpPr>
        <p:spPr>
          <a:xfrm>
            <a:off x="711579" y="2677120"/>
            <a:ext cx="511509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Ingestion controls: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11579" y="3128169"/>
            <a:ext cx="5115095" cy="3099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File extension, MIME type, signature, size, and binary marker validation.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Accepted files are stored locally.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Exact duplicate content is skipped using SHA-256.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Generated analysis runs only after the user selects Analyse workspace.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Per file ingestion is atomic, so one failed file does not invalidate the whole batch.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Clearing the workspace removes local workspace records and tracked uploaded files.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21267" y="2677120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Evidence pipeline: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321267" y="3128169"/>
            <a:ext cx="5215303" cy="2878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Upload evidence.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Parse pages and tables.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Chunk source text.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Generate local FastEmbed embeddings.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Store chunks and vectors in Postgres with pgvector.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Font typeface="+mj-lt"/>
              <a:buAutoNum type="arabicPeriod" startAt="6"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Retrieve relevant chunks for user questions and workflows.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Font typeface="+mj-lt"/>
              <a:buAutoNum type="arabicPeriod" startAt="7"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Validate generated records against uploaded source filenames, pages, and snippets.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6615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knowledge graph turns documents into auditable relationships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295301"/>
            <a:ext cx="114783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graph links asset evidence across files instead of showing documents as isolated search results.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672034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Graph edges connect: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1971278"/>
            <a:ext cx="5273047" cy="209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Assets.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Documents.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Failure modes.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Work orders.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Spare parts.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Historian signals.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Regulatory references.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Compliance gaps.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Contradictions.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Timeline events.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263523" y="1672034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Each graph edge stores: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63523" y="1971278"/>
            <a:ext cx="5273047" cy="1029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Source node, relation type, and target node.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Confidence.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Source document and source page.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Evidence text.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Validation status and validation reason.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1475" y="4233466"/>
            <a:ext cx="1086874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Example validated links from the sample corpus: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4579045"/>
            <a:ext cx="5388039" cy="744835"/>
          </a:xfrm>
          <a:prstGeom prst="roundRect">
            <a:avLst>
              <a:gd name="adj" fmla="val 7461"/>
            </a:avLst>
          </a:prstGeom>
          <a:solidFill>
            <a:srgbClr val="FDFBF7"/>
          </a:solidFill>
          <a:ln w="19050">
            <a:solidFill>
              <a:srgbClr val="E6DED2"/>
            </a:solidFill>
            <a:prstDash val="solid"/>
          </a:ln>
          <a:effectLst>
            <a:outerShdw sx="100000" sy="100000" kx="0" ky="0" algn="bl" rotWithShape="0" blurRad="101600" dist="16510" dir="2700000">
              <a:srgbClr val="e6ded2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2780" y="4730353"/>
            <a:ext cx="508542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P-101 to seal leakage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780" y="4992588"/>
            <a:ext cx="508542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From an incident report.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42082" y="4579045"/>
            <a:ext cx="5388138" cy="744835"/>
          </a:xfrm>
          <a:prstGeom prst="roundRect">
            <a:avLst>
              <a:gd name="adj" fmla="val 7461"/>
            </a:avLst>
          </a:prstGeom>
          <a:solidFill>
            <a:srgbClr val="FDFBF7"/>
          </a:solidFill>
          <a:ln w="19050">
            <a:solidFill>
              <a:srgbClr val="E6DED2"/>
            </a:solidFill>
            <a:prstDash val="solid"/>
          </a:ln>
          <a:effectLst>
            <a:outerShdw sx="100000" sy="100000" kx="0" ky="0" algn="bl" rotWithShape="0" blurRad="101600" dist="16510" dir="2700000">
              <a:srgbClr val="e6ded2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93387" y="4730353"/>
            <a:ext cx="50855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P-101 to mechanical seal stockout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93387" y="4992588"/>
            <a:ext cx="5085528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From spare inventory.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1475" y="5416451"/>
            <a:ext cx="5388039" cy="744835"/>
          </a:xfrm>
          <a:prstGeom prst="roundRect">
            <a:avLst>
              <a:gd name="adj" fmla="val 7461"/>
            </a:avLst>
          </a:prstGeom>
          <a:solidFill>
            <a:srgbClr val="FDFBF7"/>
          </a:solidFill>
          <a:ln w="19050">
            <a:solidFill>
              <a:srgbClr val="E6DED2"/>
            </a:solidFill>
            <a:prstDash val="solid"/>
          </a:ln>
          <a:effectLst>
            <a:outerShdw sx="100000" sy="100000" kx="0" ky="0" algn="bl" rotWithShape="0" blurRad="101600" dist="16510" dir="2700000">
              <a:srgbClr val="e6ded2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2780" y="5567759"/>
            <a:ext cx="508542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C-204 to overdue inspection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780" y="5829995"/>
            <a:ext cx="508542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From compliance and maintenance records.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42082" y="5416451"/>
            <a:ext cx="5388138" cy="744835"/>
          </a:xfrm>
          <a:prstGeom prst="roundRect">
            <a:avLst>
              <a:gd name="adj" fmla="val 7461"/>
            </a:avLst>
          </a:prstGeom>
          <a:solidFill>
            <a:srgbClr val="FDFBF7"/>
          </a:solidFill>
          <a:ln w="19050">
            <a:solidFill>
              <a:srgbClr val="E6DED2"/>
            </a:solidFill>
            <a:prstDash val="solid"/>
          </a:ln>
          <a:effectLst>
            <a:outerShdw sx="100000" sy="100000" kx="0" ky="0" algn="bl" rotWithShape="0" blurRad="101600" dist="16510" dir="2700000">
              <a:srgbClr val="e6ded2">
                <a:alpha val="10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93387" y="5567759"/>
            <a:ext cx="50855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B-12 to LOTO control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93387" y="5829995"/>
            <a:ext cx="5085528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From a boiler safety SOP.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1208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judge demo shows intelligence across functions in one 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634827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UI has seven focused routes: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61475" y="1886744"/>
            <a:ext cx="3569702" cy="660301"/>
          </a:xfrm>
          <a:prstGeom prst="roundRect">
            <a:avLst>
              <a:gd name="adj" fmla="val 7815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01600" dist="15240" dir="2700000">
              <a:srgbClr val="ccc4b8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0654" y="2015927"/>
            <a:ext cx="331134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Command centre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90654" y="2255738"/>
            <a:ext cx="331134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For workspace status.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310947" y="1886744"/>
            <a:ext cx="3569702" cy="660301"/>
          </a:xfrm>
          <a:prstGeom prst="roundRect">
            <a:avLst>
              <a:gd name="adj" fmla="val 7815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01600" dist="15240" dir="2700000">
              <a:srgbClr val="ccc4b8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40126" y="2015927"/>
            <a:ext cx="331134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Documents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40126" y="2255738"/>
            <a:ext cx="331134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For upload, parser metadata, page counts, and analysis.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960419" y="1886744"/>
            <a:ext cx="3569801" cy="660301"/>
          </a:xfrm>
          <a:prstGeom prst="roundRect">
            <a:avLst>
              <a:gd name="adj" fmla="val 7815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01600" dist="15240" dir="2700000">
              <a:srgbClr val="ccc4b8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89598" y="2015927"/>
            <a:ext cx="331144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Chat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89598" y="2255738"/>
            <a:ext cx="331144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For cited operational questions.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61475" y="2626816"/>
            <a:ext cx="3569702" cy="822424"/>
          </a:xfrm>
          <a:prstGeom prst="roundRect">
            <a:avLst>
              <a:gd name="adj" fmla="val 6274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01600" dist="15240" dir="2700000">
              <a:srgbClr val="ccc4b8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90654" y="2755999"/>
            <a:ext cx="331134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Assets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0654" y="2995811"/>
            <a:ext cx="3311343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For risk, timeline, provenance, gaps, contradictions, and evidence export.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10947" y="2626816"/>
            <a:ext cx="3569702" cy="822424"/>
          </a:xfrm>
          <a:prstGeom prst="roundRect">
            <a:avLst>
              <a:gd name="adj" fmla="val 6274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01600" dist="15240" dir="2700000">
              <a:srgbClr val="ccc4b8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40126" y="2755999"/>
            <a:ext cx="331134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Graph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40126" y="2995811"/>
            <a:ext cx="331134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For node and edge inspection with source snippets.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960419" y="2626816"/>
            <a:ext cx="3569801" cy="822424"/>
          </a:xfrm>
          <a:prstGeom prst="roundRect">
            <a:avLst>
              <a:gd name="adj" fmla="val 6274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01600" dist="15240" dir="2700000">
              <a:srgbClr val="ccc4b8">
                <a:alpha val="10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89598" y="2755999"/>
            <a:ext cx="331144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89598" y="2995811"/>
            <a:ext cx="3311442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For gaps, contradiction evidence, summaries, and evidence packs.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1475" y="3529013"/>
            <a:ext cx="10868745" cy="660301"/>
          </a:xfrm>
          <a:prstGeom prst="roundRect">
            <a:avLst>
              <a:gd name="adj" fmla="val 7815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01600" dist="15240" dir="2700000">
              <a:srgbClr val="ccc4b8">
                <a:alpha val="10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90654" y="3658195"/>
            <a:ext cx="1061038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RCA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0654" y="3898007"/>
            <a:ext cx="10610386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For likely causes, checks, preventive actions, graph paths, and citations.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61475" y="4309070"/>
            <a:ext cx="108687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1475" y="4532908"/>
            <a:ext cx="108687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Expected evidence pattern: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1475" y="4844653"/>
            <a:ext cx="10868745" cy="922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Seal leakage from the P-101 incident report.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High vibration context from historian and sensor data.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Mechanical seal stockout from spare inventory.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Relevant manual or guide guidance from P-101 maintenance documents.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Related graph paths and citations back to source pages.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3009"/>
            <a:ext cx="10868745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RCA and compliance workflows convert retrieval into action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952427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prototype is not just search. It packages evidence into operational workflows.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39042" y="2383234"/>
            <a:ext cx="5471777" cy="2079030"/>
          </a:xfrm>
          <a:prstGeom prst="roundRect">
            <a:avLst>
              <a:gd name="adj" fmla="val 5891"/>
            </a:avLst>
          </a:prstGeom>
          <a:solidFill>
            <a:srgbClr val="9C9283"/>
          </a:solidFill>
          <a:ln/>
        </p:spPr>
      </p:sp>
      <p:sp>
        <p:nvSpPr>
          <p:cNvPr id="5" name="Text 3"/>
          <p:cNvSpPr/>
          <p:nvPr/>
        </p:nvSpPr>
        <p:spPr>
          <a:xfrm>
            <a:off x="709099" y="2536329"/>
            <a:ext cx="513166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RCA workflow: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09099" y="2955131"/>
            <a:ext cx="5131664" cy="1453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Select an asset and enter an observed symptom.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Retrieve source evidence and graph paths.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Include contradictions when records conflict.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Generate likely causes, supporting evidence, recommended checks, preventive actions, and cited documents.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659" y="2536329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Compliance workflow: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309659" y="2955131"/>
            <a:ext cx="5226911" cy="1453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Review generated gaps across the uploaded corpus.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Inspect corrective actions and contradiction evidence.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Ask questions focused on compliance.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Export evidence packs with filenames, pages, snippets, graph paths, gaps, and contradictions.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1475" y="4691856"/>
            <a:ext cx="1086874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Brief alignment: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61475" y="5187156"/>
            <a:ext cx="10868745" cy="1087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Factory Act, OISD, PESO, environmental norms, quality standards, and audit evidence packages are treated as compliance evidence domains.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current sample corpus exercises regulatory extracts, safety SOPs, inspection frequency, stock minimums, restart authorisation conflict, and energy isolation controls.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0409"/>
            <a:ext cx="10868745" cy="371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architecture is simple, local, and inspectable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61475" y="972245"/>
            <a:ext cx="1086874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Runtime architecture: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270695"/>
            <a:ext cx="5396869" cy="6494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3934" y="1402358"/>
            <a:ext cx="508275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Next.js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843934" y="1633339"/>
            <a:ext cx="5082750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Provides the local frontend and API proxy.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33252" y="1270695"/>
            <a:ext cx="5396968" cy="64948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15711" y="1402358"/>
            <a:ext cx="508284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FastAPI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315711" y="1633339"/>
            <a:ext cx="5082849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Provides backend routes.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1995091"/>
            <a:ext cx="5396869" cy="64948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3934" y="2126754"/>
            <a:ext cx="508275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Upload validation and parsers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843934" y="2357735"/>
            <a:ext cx="5082750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Handle PDF, DOCX, TXT, CSV, and XLSX.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33252" y="1995091"/>
            <a:ext cx="5396968" cy="64948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15711" y="2126754"/>
            <a:ext cx="508284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RapidOCR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6315711" y="2357735"/>
            <a:ext cx="5082849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Available for sparse PDFs when OCR is enabled.</a:t>
            </a:r>
            <a:endParaRPr lang="en-US" sz="9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2719487"/>
            <a:ext cx="5396869" cy="64948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43934" y="2851150"/>
            <a:ext cx="508275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FastEmbed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843934" y="3082131"/>
            <a:ext cx="5082750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Creates local BAAI/bge-small-en-v1.5 embeddings.</a:t>
            </a:r>
            <a:endParaRPr lang="en-US" sz="9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33252" y="2719487"/>
            <a:ext cx="5396968" cy="64948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315711" y="2851150"/>
            <a:ext cx="508284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Postgres</a:t>
            </a:r>
            <a:endParaRPr lang="en-US" sz="1150" dirty="0"/>
          </a:p>
        </p:txBody>
      </p:sp>
      <p:sp>
        <p:nvSpPr>
          <p:cNvPr id="21" name="Text 13"/>
          <p:cNvSpPr/>
          <p:nvPr/>
        </p:nvSpPr>
        <p:spPr>
          <a:xfrm>
            <a:off x="6315711" y="3082131"/>
            <a:ext cx="5082849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Stores source records, generated records, and pgvector embeddings.</a:t>
            </a:r>
            <a:endParaRPr lang="en-US" sz="9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475" y="3443883"/>
            <a:ext cx="5396869" cy="80466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843934" y="3575546"/>
            <a:ext cx="508275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NetworkX</a:t>
            </a:r>
            <a:endParaRPr lang="en-US" sz="1150" dirty="0"/>
          </a:p>
        </p:txBody>
      </p:sp>
      <p:sp>
        <p:nvSpPr>
          <p:cNvPr id="24" name="Text 15"/>
          <p:cNvSpPr/>
          <p:nvPr/>
        </p:nvSpPr>
        <p:spPr>
          <a:xfrm>
            <a:off x="843934" y="3806527"/>
            <a:ext cx="5082750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Builds graph responses.</a:t>
            </a:r>
            <a:endParaRPr lang="en-US" sz="9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133252" y="3443883"/>
            <a:ext cx="5396968" cy="804664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315711" y="3575546"/>
            <a:ext cx="508284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DeepSeek</a:t>
            </a:r>
            <a:endParaRPr lang="en-US" sz="1150" dirty="0"/>
          </a:p>
        </p:txBody>
      </p:sp>
      <p:sp>
        <p:nvSpPr>
          <p:cNvPr id="27" name="Text 17"/>
          <p:cNvSpPr/>
          <p:nvPr/>
        </p:nvSpPr>
        <p:spPr>
          <a:xfrm>
            <a:off x="6315711" y="3806527"/>
            <a:ext cx="5082849" cy="310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Called only when configured for generated analysis, chat, RCA, and compliance summaries.</a:t>
            </a:r>
            <a:endParaRPr lang="en-US" sz="900" dirty="0"/>
          </a:p>
        </p:txBody>
      </p:sp>
      <p:sp>
        <p:nvSpPr>
          <p:cNvPr id="28" name="Text 18"/>
          <p:cNvSpPr/>
          <p:nvPr/>
        </p:nvSpPr>
        <p:spPr>
          <a:xfrm>
            <a:off x="661475" y="4360962"/>
            <a:ext cx="1086874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Core flow:</a:t>
            </a:r>
            <a:endParaRPr lang="en-US" sz="1150" dirty="0"/>
          </a:p>
        </p:txBody>
      </p:sp>
      <p:sp>
        <p:nvSpPr>
          <p:cNvPr id="29" name="Text 19"/>
          <p:cNvSpPr/>
          <p:nvPr/>
        </p:nvSpPr>
        <p:spPr>
          <a:xfrm>
            <a:off x="661475" y="4659412"/>
            <a:ext cx="11478330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User upload to validation to parser to chunks to embeddings to Postgres to retrieval to cited intelligence workflows.</a:t>
            </a:r>
            <a:endParaRPr lang="en-US" sz="900" dirty="0"/>
          </a:p>
        </p:txBody>
      </p:sp>
      <p:sp>
        <p:nvSpPr>
          <p:cNvPr id="30" name="Text 20"/>
          <p:cNvSpPr/>
          <p:nvPr/>
        </p:nvSpPr>
        <p:spPr>
          <a:xfrm>
            <a:off x="661475" y="4927005"/>
            <a:ext cx="1086874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Production boundary:</a:t>
            </a:r>
            <a:endParaRPr lang="en-US" sz="1150" dirty="0"/>
          </a:p>
        </p:txBody>
      </p:sp>
      <p:sp>
        <p:nvSpPr>
          <p:cNvPr id="31" name="Text 21"/>
          <p:cNvSpPr/>
          <p:nvPr/>
        </p:nvSpPr>
        <p:spPr>
          <a:xfrm>
            <a:off x="661475" y="5225455"/>
            <a:ext cx="10868745" cy="1062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09000"/>
              </a:lnSpc>
              <a:buSzPct val="100000"/>
              <a:buChar char="•"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Local prototype.</a:t>
            </a:r>
            <a:endParaRPr lang="en-US" sz="900" dirty="0"/>
          </a:p>
          <a:p>
            <a:pPr algn="l" marL="182880" indent="-182880">
              <a:lnSpc>
                <a:spcPct val="109000"/>
              </a:lnSpc>
              <a:buSzPct val="100000"/>
              <a:buChar char="•"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One default workspace.</a:t>
            </a:r>
            <a:endParaRPr lang="en-US" sz="900" dirty="0"/>
          </a:p>
          <a:p>
            <a:pPr algn="l" marL="182880" indent="-182880">
              <a:lnSpc>
                <a:spcPct val="109000"/>
              </a:lnSpc>
              <a:buSzPct val="100000"/>
              <a:buChar char="•"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 authentication or role based authorisation.</a:t>
            </a:r>
            <a:endParaRPr lang="en-US" sz="900" dirty="0"/>
          </a:p>
          <a:p>
            <a:pPr algn="l" marL="182880" indent="-182880">
              <a:lnSpc>
                <a:spcPct val="109000"/>
              </a:lnSpc>
              <a:buSzPct val="100000"/>
              <a:buChar char="•"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 production deployment configuration.</a:t>
            </a:r>
            <a:endParaRPr lang="en-US" sz="900" dirty="0"/>
          </a:p>
          <a:p>
            <a:pPr algn="l" marL="182880" indent="-182880">
              <a:lnSpc>
                <a:spcPct val="109000"/>
              </a:lnSpc>
              <a:buSzPct val="100000"/>
              <a:buChar char="•"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 live QMS, historian, CMMS, email, or document management connector.</a:t>
            </a:r>
            <a:endParaRPr lang="en-US" sz="900" dirty="0"/>
          </a:p>
          <a:p>
            <a:pPr algn="l" marL="182880" indent="-182880">
              <a:lnSpc>
                <a:spcPct val="109000"/>
              </a:lnSpc>
              <a:buSzPct val="100000"/>
              <a:buChar char="•"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Generated analysis, live chat, RCA, and compliance summaries require a configured DeepSeek API key.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4299"/>
            <a:ext cx="10868745" cy="365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Deterministic evaluation shows the evidence layer is working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61475" y="1095276"/>
            <a:ext cx="10868745" cy="38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Benchmark generated on 20 July 2026 UTC.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benchmark parses the sample corpus with the backend parser stack, builds deterministic retrieval checks, and validates evidence contracts without calling an LLM or mutating the database.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1588790"/>
            <a:ext cx="1086874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Headline result: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84950" y="1938933"/>
            <a:ext cx="2315509" cy="38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71/71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61475" y="2438301"/>
            <a:ext cx="356245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Checks passed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938093" y="1938933"/>
            <a:ext cx="2315509" cy="38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314618" y="2438301"/>
            <a:ext cx="356245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Benchmark categories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591236" y="1938933"/>
            <a:ext cx="2315509" cy="38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967761" y="2438301"/>
            <a:ext cx="356245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Synthetic source documents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284950" y="2824758"/>
            <a:ext cx="2315509" cy="38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61475" y="3324126"/>
            <a:ext cx="356245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Supported source formats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38093" y="2824758"/>
            <a:ext cx="2315509" cy="38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550ms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314618" y="3324126"/>
            <a:ext cx="356245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Total runtime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591236" y="2824758"/>
            <a:ext cx="2315509" cy="38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496ms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967761" y="3324126"/>
            <a:ext cx="356245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Parse runtime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38093" y="3710583"/>
            <a:ext cx="2315509" cy="38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3.95ms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314618" y="4209951"/>
            <a:ext cx="356245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P95 check latency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61475" y="4501555"/>
            <a:ext cx="1086874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Quality metrics: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1475" y="4793159"/>
            <a:ext cx="1750969" cy="612577"/>
          </a:xfrm>
          <a:prstGeom prst="roundRect">
            <a:avLst>
              <a:gd name="adj" fmla="val 8029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01600" dist="15240" dir="2700000">
              <a:srgbClr val="ccc4b8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84900" y="4916587"/>
            <a:ext cx="150411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Citation hit rate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484971" y="4793159"/>
            <a:ext cx="1751068" cy="612577"/>
          </a:xfrm>
          <a:prstGeom prst="roundRect">
            <a:avLst>
              <a:gd name="adj" fmla="val 8029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01600" dist="15240" dir="2700000">
              <a:srgbClr val="ccc4b8">
                <a:alpha val="10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608396" y="4916587"/>
            <a:ext cx="1504218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Answer snippet hit rate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08566" y="4793159"/>
            <a:ext cx="1750969" cy="612577"/>
          </a:xfrm>
          <a:prstGeom prst="roundRect">
            <a:avLst>
              <a:gd name="adj" fmla="val 8029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01600" dist="15240" dir="2700000">
              <a:srgbClr val="ccc4b8">
                <a:alpha val="10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431991" y="4916587"/>
            <a:ext cx="1504119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Retrieval context precision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32061" y="4793159"/>
            <a:ext cx="1751068" cy="612577"/>
          </a:xfrm>
          <a:prstGeom prst="roundRect">
            <a:avLst>
              <a:gd name="adj" fmla="val 8029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01600" dist="15240" dir="2700000">
              <a:srgbClr val="ccc4b8">
                <a:alpha val="10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55486" y="4916587"/>
            <a:ext cx="1504218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Retrieval context recall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955656" y="4793159"/>
            <a:ext cx="1750969" cy="612577"/>
          </a:xfrm>
          <a:prstGeom prst="roundRect">
            <a:avLst>
              <a:gd name="adj" fmla="val 8029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01600" dist="15240" dir="2700000">
              <a:srgbClr val="ccc4b8">
                <a:alpha val="10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079081" y="4916587"/>
            <a:ext cx="1504119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Grounded answer claim F1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779152" y="4793159"/>
            <a:ext cx="1751068" cy="612577"/>
          </a:xfrm>
          <a:prstGeom prst="roundRect">
            <a:avLst>
              <a:gd name="adj" fmla="val 8029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01600" dist="15240" dir="2700000">
              <a:srgbClr val="ccc4b8">
                <a:alpha val="10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902577" y="4916587"/>
            <a:ext cx="150421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Abstention accuracy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61475" y="5478264"/>
            <a:ext cx="2358867" cy="795437"/>
          </a:xfrm>
          <a:prstGeom prst="roundRect">
            <a:avLst>
              <a:gd name="adj" fmla="val 6183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01600" dist="15240" dir="2700000">
              <a:srgbClr val="ccc4b8">
                <a:alpha val="10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84900" y="5601692"/>
            <a:ext cx="2112017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Entity extraction precision and recall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092869" y="5478264"/>
            <a:ext cx="2054868" cy="795437"/>
          </a:xfrm>
          <a:prstGeom prst="roundRect">
            <a:avLst>
              <a:gd name="adj" fmla="val 6183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01600" dist="15240" dir="2700000">
              <a:srgbClr val="ccc4b8">
                <a:alpha val="10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216294" y="5601692"/>
            <a:ext cx="180801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Compliance gap accuracy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220264" y="5478264"/>
            <a:ext cx="2054967" cy="795437"/>
          </a:xfrm>
          <a:prstGeom prst="roundRect">
            <a:avLst>
              <a:gd name="adj" fmla="val 6183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01600" dist="15240" dir="2700000">
              <a:srgbClr val="ccc4b8">
                <a:alpha val="10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343689" y="5601692"/>
            <a:ext cx="1808117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Contradiction pair accuracy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347758" y="5478264"/>
            <a:ext cx="2054967" cy="795437"/>
          </a:xfrm>
          <a:prstGeom prst="roundRect">
            <a:avLst>
              <a:gd name="adj" fmla="val 6183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01600" dist="15240" dir="2700000">
              <a:srgbClr val="ccc4b8">
                <a:alpha val="10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471183" y="5601692"/>
            <a:ext cx="180811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RCA evidence accuracy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475253" y="5478264"/>
            <a:ext cx="2054967" cy="795437"/>
          </a:xfrm>
          <a:prstGeom prst="roundRect">
            <a:avLst>
              <a:gd name="adj" fmla="val 6183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01600" dist="15240" dir="2700000">
              <a:srgbClr val="ccc4b8">
                <a:alpha val="10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598678" y="5601692"/>
            <a:ext cx="1808117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Graph link completeness and graph validation accuracy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7066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build maps directly to the judging criteria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61475" y="1592163"/>
            <a:ext cx="10868745" cy="3717925"/>
          </a:xfrm>
          <a:prstGeom prst="roundRect">
            <a:avLst>
              <a:gd name="adj" fmla="val 181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1475" y="2015827"/>
            <a:ext cx="10868745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2674045"/>
            <a:ext cx="10868745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332262"/>
            <a:ext cx="10868745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3990479"/>
            <a:ext cx="10868745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4648696"/>
            <a:ext cx="10868745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839173" y="1592163"/>
            <a:ext cx="10042" cy="37179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467510" y="1592163"/>
            <a:ext cx="10042" cy="37179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28654" y="1686719"/>
            <a:ext cx="245629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Judging criterion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002979" y="1686719"/>
            <a:ext cx="191031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Weight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31316" y="1686719"/>
            <a:ext cx="734150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Prototype evidence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8654" y="2107208"/>
            <a:ext cx="245629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Innovation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002979" y="2107208"/>
            <a:ext cx="191031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25 percent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31316" y="2107208"/>
            <a:ext cx="673192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Combines local document parsing, RAG, evidence validation, graph provenance, RCA, compliance review, and audit evidence packs in one workflow.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8654" y="2765425"/>
            <a:ext cx="245629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Business impact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002979" y="2765425"/>
            <a:ext cx="191031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25 percent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31316" y="2765425"/>
            <a:ext cx="673192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Targets fragmented asset knowledge, downtime context, compliance preparation, root cause workflows, and operator knowledge retention.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8654" y="3423642"/>
            <a:ext cx="245629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Technical excellence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002979" y="3423642"/>
            <a:ext cx="191031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20 percent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631316" y="3423642"/>
            <a:ext cx="673192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Uses a typed Next.js frontend, FastAPI route separation, SQLAlchemy models, Alembic migrations, pgvector retrieval, backend tests, and deterministic benchmark gates.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8654" y="4081859"/>
            <a:ext cx="245629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Scalability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002979" y="4081859"/>
            <a:ext cx="191031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15 percent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631316" y="4081859"/>
            <a:ext cx="673192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Uses Postgres, pgvector, chunking, local embeddings, and records scoped to each workspace; production scaling and live connectors remain future work.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8654" y="4740077"/>
            <a:ext cx="245629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User experience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002979" y="4740077"/>
            <a:ext cx="191031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15 percent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631316" y="4740077"/>
            <a:ext cx="673192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Provides focused workflows for command centre, documents, chat, assets, graph, compliance, RCA, exports, and workspace clearing.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61475" y="5463679"/>
            <a:ext cx="10868745" cy="577255"/>
          </a:xfrm>
          <a:prstGeom prst="roundRect">
            <a:avLst>
              <a:gd name="adj" fmla="val 11690"/>
            </a:avLst>
          </a:prstGeom>
          <a:solidFill>
            <a:srgbClr val="E8E6E3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106" y="5682555"/>
            <a:ext cx="200814" cy="160635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183551" y="5640288"/>
            <a:ext cx="1079562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key trade off is deliberate: the prototype prioritises grounded local evidence and judge inspectability over production breadth.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6672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takeaway is traceable industrial intelligence, not generic chat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127125"/>
            <a:ext cx="1086874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Repeatable judge demo path: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1472704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61475" y="1678384"/>
            <a:ext cx="5388039" cy="1905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1782564"/>
            <a:ext cx="538803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Start the local app.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42082" y="1472704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42082" y="1678384"/>
            <a:ext cx="5388138" cy="1905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9" name="Text 7"/>
          <p:cNvSpPr/>
          <p:nvPr/>
        </p:nvSpPr>
        <p:spPr>
          <a:xfrm>
            <a:off x="6142082" y="1782564"/>
            <a:ext cx="538813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Upload all 17 sample evidence files.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1475" y="2181027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1475" y="2386707"/>
            <a:ext cx="5388039" cy="1905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2" name="Text 10"/>
          <p:cNvSpPr/>
          <p:nvPr/>
        </p:nvSpPr>
        <p:spPr>
          <a:xfrm>
            <a:off x="661475" y="2490887"/>
            <a:ext cx="538803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Run Analyse workspace.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42082" y="2181027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42082" y="2386707"/>
            <a:ext cx="5388138" cy="1905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5" name="Text 13"/>
          <p:cNvSpPr/>
          <p:nvPr/>
        </p:nvSpPr>
        <p:spPr>
          <a:xfrm>
            <a:off x="6142082" y="2490887"/>
            <a:ext cx="538813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Ask the P-101 seal failure question.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1475" y="2889349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1475" y="3095030"/>
            <a:ext cx="5388039" cy="1905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3199209"/>
            <a:ext cx="538803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Inspect P-101 asset intelligence.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42082" y="2889349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42082" y="3095030"/>
            <a:ext cx="5388138" cy="1905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21" name="Text 19"/>
          <p:cNvSpPr/>
          <p:nvPr/>
        </p:nvSpPr>
        <p:spPr>
          <a:xfrm>
            <a:off x="6142082" y="3199209"/>
            <a:ext cx="538813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Select a graph edge and verify source evidence.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1475" y="3597672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07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1475" y="3803352"/>
            <a:ext cx="5388039" cy="1905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24" name="Text 22"/>
          <p:cNvSpPr/>
          <p:nvPr/>
        </p:nvSpPr>
        <p:spPr>
          <a:xfrm>
            <a:off x="661475" y="3907532"/>
            <a:ext cx="538803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Review compliance gaps for C-204, P-101, and B-12.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42082" y="3597672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08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42082" y="3803352"/>
            <a:ext cx="5388138" cy="1905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27" name="Text 25"/>
          <p:cNvSpPr/>
          <p:nvPr/>
        </p:nvSpPr>
        <p:spPr>
          <a:xfrm>
            <a:off x="6142082" y="3907532"/>
            <a:ext cx="538813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Generate RCA for P-101 seal leakage after high vibration alarms.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1475" y="4305995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1475" y="4511675"/>
            <a:ext cx="5388039" cy="1905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0" name="Text 28"/>
          <p:cNvSpPr/>
          <p:nvPr/>
        </p:nvSpPr>
        <p:spPr>
          <a:xfrm>
            <a:off x="661475" y="4615855"/>
            <a:ext cx="538803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Export graph and evidence packs.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42082" y="4305995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10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42082" y="4511675"/>
            <a:ext cx="5388138" cy="1905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3" name="Text 31"/>
          <p:cNvSpPr/>
          <p:nvPr/>
        </p:nvSpPr>
        <p:spPr>
          <a:xfrm>
            <a:off x="6142082" y="4615855"/>
            <a:ext cx="5388138" cy="41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Clear the workspace and confirm the app returns to an empty state.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1475" y="5267325"/>
            <a:ext cx="1086874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Final message: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61475" y="5612904"/>
            <a:ext cx="19050" cy="568325"/>
          </a:xfrm>
          <a:prstGeom prst="roundRect">
            <a:avLst>
              <a:gd name="adj" fmla="val 59999"/>
            </a:avLst>
          </a:prstGeom>
          <a:solidFill>
            <a:srgbClr val="9C9283"/>
          </a:solidFill>
          <a:ln/>
        </p:spPr>
      </p:sp>
      <p:sp>
        <p:nvSpPr>
          <p:cNvPr id="36" name="Text 34"/>
          <p:cNvSpPr/>
          <p:nvPr/>
        </p:nvSpPr>
        <p:spPr>
          <a:xfrm>
            <a:off x="859907" y="5717084"/>
            <a:ext cx="10670313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Industrial Ops Brain turns uploaded operational documents into traceable industrial intelligence while keeping every answer, recommendation, graph link, compliance finding, and RCA action tied to source evidence.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2026-07-21T16:49:35Z</dcterms:created>
  <dcterms:modified xsi:type="dcterms:W3CDTF">2026-07-21T16:49:35Z</dcterms:modified>
</cp:coreProperties>
</file>